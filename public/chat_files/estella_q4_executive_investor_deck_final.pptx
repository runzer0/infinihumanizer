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94A3B8"/>
                </a:solidFill>
                <a:latin typeface="Calibri"/>
              </a:defRPr>
            </a:pPr>
            <a:r>
              <a:t>CONFIDENTIAL BOARD BRIEFING · OCTOBER 2026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Williams Logistics Network · Q4 2026 Strategic Review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Presented by Estella Williams, Founder &amp; CEO · Enterprise Cross-Dock Telematics Platform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Board of Directors Review Copy · Series A Operational Update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Operating Across 180 Active Terminals in Texas, Midwest &amp; Gulf Corridors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OPERATING HIGHLIGHTS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Q3 2026 Executive Performance Dashboard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Accelerating enterprise adoption, expanding terminal velocity, and zero logo attrition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$4.2M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Current ARR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+18% QoQ expansion across 180 active terminals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114%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Net Revenue Retention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Driven by volumetric dockdoor throughput tiers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0.0%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Enterprise Logo Churn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Zero cancellations across 6 consecutive quarters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78.4%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Gross Margin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Pure SaaS economics with hardware-agnostic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Williams Logistics Network · Q4 2026 Executive Investor Update · 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FINANCIAL TRAJECTORY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Quarterly ARR Bridge &amp; Expansion Velocity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Clear line of sight to $6.8M ARR exit run-rate in FY 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Q1–Q3 2026 Actual Growth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Q1 2026: $2.8M ARR across 128 contracted distribution hubs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Q2 2026: $3.4M ARR with 28 new carrier fleet enterprise logos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Q3 2026: $4.2M ARR driven by Midwest freight corridor expansion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Q4 Forecast &amp; FY2027 Budget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Q4 2026 Target: $5.1M ARR (94% contracted pipeline coverage)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FY 2027 Projected: $6.8M ARR with 310 terminal deployments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Cash flow breakeven anticipated in Q2 2027 without secondary financing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20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Unit Economics &amp; Payback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Average Contract Value (ACV): $28,500/year per terminal hub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Customer Acquisition Cost (CAC): $5,900 per enterprise logo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LTV to CAC Ratio: 5.4x with 6.2 month cash payback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Williams Logistics Network · Q4 2026 Executive Investor Update · 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CORE PRODUCT INNOVATION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DockDoor 2.0: Automated Cross-Dock Orchestration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Replacing manual whiteboards, phone tag, and demurrage penalties with automated gate logic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1. Geofenced Driver Intake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Automated arrival trigger 2 miles from terminal perimeter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No app download required; runs via responsive web container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Instantly verifies trailer seal number and cargo bill of lading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2. Dynamic Bay Allocation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Algorithms assign dock doors based on liftgate and reefer class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Balances forklift staging distance to reduce cross-dock congestion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Reduces average yard dwell time from 114 minutes to 38 minutes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20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3. Sign-on-Glass Electronic BOL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Digital damage exception markup with high-res photo capture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Instant PDF bill-of-lading dispatch to carrier, broker, and consignee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100% audit compliance with zero lost freight 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Williams Logistics Network · Q4 2026 Executive Investor Update · 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PILOT CASE STUDY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Mid-States 3PL Case Study: Measurable Operational ROI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Deployment across 4 regional cross-dock distribution hubs in Dallas, Kansas City, and Memphis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-41%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Detention Claims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Saved $184,000 in trailer detention fees in 90 days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14 hrs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Weekly Time Saved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Saved per dispatcher on phone check-ins and paper filing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18,400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BOLs Cleared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100% digital audit trace with zero disputed shortages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3.8x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First-Year ROI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Platform paid for itself within the first 60 days of go-live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Williams Logistics Network · Q4 2026 Executive Investor Update · 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PIPELINE &amp; GTM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Enterprise Pipeline Coverage &amp; Distribution Corridors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Strong mid-market carrier density across Texas triangular freight corridors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Total Active Sales Pipeline: $3.8M in qualified enterprise opportunities under technical POC review.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Average Enterprise Sales Cycle: 42 calendar days from initial terminal survey to paid production pilot.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Channel Partnerships: Direct certified integrations with Descartes, SAP TM, Oracle OTM, and Blue Yonder.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Expansion Motions: 68% of new ARR derived from existing carrier logos adding secondary and tertiary regional terminals.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Williams Logistics Network · Q4 2026 Executive Investor Update · 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CAPITAL &amp; GOVERNANCE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Capital Runway, Balance Sheet &amp; Board Resolutions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Prudent runway management with 24+ months of cash at current growth trajectory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Cash Position &amp; Runway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Cash in Bank (Silicon Valley Bank / First Citizens): $3,120,000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Average Monthly Net Cash Burn: $58,000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Runway: 24+ months at zero revenue growth; profitable by Q2 2027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FY2027 Resource Allocation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55% Engineering &amp; Mobile Product Innovation (5 Senior Full-Stack Hires)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30% Dedicated Field Enterprise Sales &amp; Solution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15% Information Security, SOC 2 Type II Recertification &amp; G&amp;A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20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Board Action Items Requested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Formal adoption of FY 2027 Operating Budget &amp; Headcount Plan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Approval of 3% Employee Option Pool expansion for executive hires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Confirmation of Q1 2027 Board Meeting Date (January 22, 2027)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Williams Logistics Network · Q4 2026 Executive Investor Update · 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