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  <p:sldId id="270" r:id="rIdSlide15"/>
    <p:sldId id="271" r:id="rIdSlide16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  <Relationship Id="rIdSlide11" Type="http://schemas.openxmlformats.org/officeDocument/2006/relationships/slide" Target="slides/slide11.xml"/>
  <Relationship Id="rIdSlide12" Type="http://schemas.openxmlformats.org/officeDocument/2006/relationships/slide" Target="slides/slide12.xml"/>
  <Relationship Id="rIdSlide13" Type="http://schemas.openxmlformats.org/officeDocument/2006/relationships/slide" Target="slides/slide13.xml"/>
  <Relationship Id="rIdSlide14" Type="http://schemas.openxmlformats.org/officeDocument/2006/relationships/slide" Target="slides/slide14.xml"/>
  <Relationship Id="rIdSlide15" Type="http://schemas.openxmlformats.org/officeDocument/2006/relationships/slide" Target="slides/slide15.xml"/>
  <Relationship Id="rIdSlide16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InfiniAI Logistics Platform</a:t>
            </a:r>
          </a:p>
          <a:p>
            <a:pPr lvl="0"/>
            <a:r>
              <a:rPr lang="en-US" sz="1200" i="1"/>
              <a:t>Q4 2026 Executive Investor Update · Board Briefing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Presented by Estella Williams, Founder &amp; CEO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Confidential Board of Directors Review · 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Executive Summary &amp; Q3 Highlights</a:t>
            </a:r>
          </a:p>
          <a:p>
            <a:pPr lvl="0"/>
            <a:r>
              <a:rPr lang="en-US" sz="1200" i="1"/>
              <a:t>Accelerating Enterprise Terminal Adoption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$4.2M Current Annual Recurring Revenue (+18% QoQ expansion)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114% Net Revenue Retention across mid-market enterprise carrier tier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Gross margin expanded to 77.2% through automated infrastructure scaling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Net monthly burn reduced to $94K with 18.2-month cash runway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Financial Trajectory &amp; ARR Bridge</a:t>
            </a:r>
          </a:p>
          <a:p>
            <a:pPr lvl="0"/>
            <a:r>
              <a:rPr lang="en-US" sz="1200" i="1"/>
              <a:t>Q1 2026 Actuals to FY 2027 Projections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Q1 Actuals: $2.8M ARR across 180 active terminals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Q2 Actuals: $3.4M ARR with 28 new carrier fleet logos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Q3 Actuals: $4.2M ARR driven by $420K organic expansion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Q4 2026 Target: $5.1M ARR (92% visibility on pipeline contracts)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FY 2027 Plan: $7.8M ARR with positive operating cash flow by Q3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Net Revenue Retention &amp; Cohort Health</a:t>
            </a:r>
          </a:p>
          <a:p>
            <a:pPr lvl="0"/>
            <a:r>
              <a:rPr lang="en-US" sz="1200" i="1"/>
              <a:t>Zero Enterprise Logo Churn Across 6 Consecutive Quarters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Gross Revenue Retention: 96.4% across all contract vintages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Net Expansion Rate: 114% driven by dockdoor volume tier upgrades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Cohort health shows full CAC payback achieved within 7.2 months of go-live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Average terminal usage increased from 42 trailers/day to 74 trailers/day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Gross Margin &amp; Infrastructure Efficiency</a:t>
            </a:r>
          </a:p>
          <a:p>
            <a:pPr lvl="0"/>
            <a:r>
              <a:rPr lang="en-US" sz="1200" i="1"/>
              <a:t>COGS Optimization Strategy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Cloud hosting cost per terminal declined from $142 to $84/month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Automated OCR bill of lading processing cut manual audit labor by 64%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Gross margin path: 74% (Q1) -&gt; 76% (Q2) -&gt; 77% (Q3) -&gt; 81% (Target FY27)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Fixed vs variable margin cushion absorbs regional freight volume swings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Unit Economics &amp; Customer Acquisition</a:t>
            </a:r>
          </a:p>
          <a:p>
            <a:pPr lvl="0"/>
            <a:r>
              <a:rPr lang="en-US" sz="1200" i="1"/>
              <a:t>17.5x LTV/CAC Ratio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Blended Customer Acquisition Cost (CAC): $480 per terminal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Average Revenue Per Account (ARPU): $507/month ($6,084 annual)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Customer Lifetime Value (LTV): $8,450 based on 4-year retention curve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CAC payback period sustained at under 8 months across all sales channels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Product Roadmap &amp; Enterprise Moat</a:t>
            </a:r>
          </a:p>
          <a:p>
            <a:pPr lvl="0"/>
            <a:r>
              <a:rPr lang="en-US" sz="1200" i="1"/>
              <a:t>Core Platform Enhancements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Live: Geofenced trailer arrival check-in with multilingual driver SMS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In Pilot: Real-time bi-directional EDI connectors for SAP TMS and Blue Yonder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Q1 2027: Predictive dock detention warning engine (patent pending)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Enterprise single sign-on (SSO) and SOC-2 Type II audit report delivered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Mid-Market Logistics Traction</a:t>
            </a:r>
          </a:p>
          <a:p>
            <a:pPr lvl="0"/>
            <a:r>
              <a:rPr lang="en-US" sz="1200" i="1"/>
              <a:t>Asset-Based Carrier Adoption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65 live freight terminals across Midwest, Texas, and Pacific Northwest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Key win: Apex Cold Storage expanded from 3 to 14 facilities in Q3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Average customer detention fee savings: $14,800 per terminal per month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Frontline dispatcher satisfaction score: 4.9/5 across 840 active operators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Sales Pipeline &amp; Territory Velocity</a:t>
            </a:r>
          </a:p>
          <a:p>
            <a:pPr lvl="0"/>
            <a:r>
              <a:rPr lang="en-US" sz="1200" i="1"/>
              <a:t>Weighted Pipeline of $1.8M ARR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65 qualified opportunities in active sales evaluation stages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Average enterprise sales cycle compressed from 64 to 38 days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Inbound demo conversion rate: 38% from organic search and industry referrals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Channel partner distribution agreements signed with 2 major TMS consultancies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Security, Governance &amp; Compliance</a:t>
            </a:r>
          </a:p>
          <a:p>
            <a:pPr lvl="0"/>
            <a:r>
              <a:rPr lang="en-US" sz="1200" i="1"/>
              <a:t>Enterprise Trust Infrastructure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SOC-2 Type II report completed with zero material exceptions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End-to-end 256-bit AES data encryption in transit and at rest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Quarterly penetration tests executed by independent third-party auditor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Automated role-based access control (RBAC) with granular audit logs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Carrier Fleet Tier Economics</a:t>
            </a:r>
          </a:p>
          <a:p>
            <a:pPr lvl="0"/>
            <a:r>
              <a:rPr lang="en-US" sz="1200" i="1"/>
              <a:t>Performance by Fleet Size Category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Tier 1 (5–20 Trucks): 38 fleets · $750/mo avg · 98% retention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Tier 2 (21–50 Trucks): 21 fleets · $1,650/mo avg · 118% net expansion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Tier 3 (50+ Trucks): 6 fleets · $3,200/mo avg · 140% net expansion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Focus on Tier 2 expansion generates highest net contribution margin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2027 Headcount &amp; Organization Plan</a:t>
            </a:r>
          </a:p>
          <a:p>
            <a:pPr lvl="0"/>
            <a:r>
              <a:rPr lang="en-US" sz="1200" i="1"/>
              <a:t>Targeted Operational Scaling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Current Headcount: 14 FTEs (Engineering 7, Sales/CS 5, G&amp;A 2)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Key Q1 Hires: VP of Enterprise Sales, Staff Distributed Systems Engineer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Operational SOPs finalized for 4 core support &amp; dispatch roles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Hiring plan gated strictly on achieving $4.8M ARR milestone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Cash Flow &amp; Runway Analysis</a:t>
            </a:r>
          </a:p>
          <a:p>
            <a:pPr lvl="0"/>
            <a:r>
              <a:rPr lang="en-US" sz="1200" i="1"/>
              <a:t>18.2 Months of Cash Runway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Ending Cash Balance as of Sept 30, 2026: $4.42M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Average Net Monthly Burn: $94,000 (down from $138,000 in Q1)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Current runway extends through April 2028 without additional capital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Optionality to reach cash flow breakeven with 15% ARR growth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Cap Table &amp; Bridge Financing</a:t>
            </a:r>
          </a:p>
          <a:p>
            <a:pPr lvl="0"/>
            <a:r>
              <a:rPr lang="en-US" sz="1200" i="1"/>
              <a:t>Capital Structure Summary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Founders &amp; Common Stock: 68.4% fully diluted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Series Seed Investors: 18.2% (SAFE notes converted)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Unallocated Option Pool: 13.4% reserved for key technical hires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Bridge Financing: $150K strategic working capital tranche settled Oct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Strategic Priorities for Q1 2027</a:t>
            </a:r>
          </a:p>
          <a:p>
            <a:pPr lvl="0"/>
            <a:r>
              <a:rPr lang="en-US" sz="1200" i="1"/>
              <a:t>Execution Milestones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Scale enterprise terminal count from 65 to 110 facilities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Complete SAP PartnerEdge certification for direct marketplace listing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Launch automated driver detention compensation dispute module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Target ARR: $5.6M with gross margin surpassing 79%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Board Resolution &amp; Next Steps</a:t>
            </a:r>
          </a:p>
          <a:p>
            <a:pPr lvl="0"/>
            <a:r>
              <a:rPr lang="en-US" sz="1200" i="1"/>
              <a:t>Items for Board Vote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Approval of 2027 Annual Operating Plan and Gated Headcount Budget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Authorization of expanded 15% equity incentive pool for engineering leads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Scheduling of Q1 Board Meeting for Thursday, February 18, 2027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Direct Contact: Estella Williams (estella@infiniai.online)</a:t>
            </a:r>
          </a:p>
        </p:txBody>
      </p:sp>
    </p:spTree>
  </p:cSld>
</p:sld>
</file>