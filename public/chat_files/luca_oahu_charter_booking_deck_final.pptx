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1"/>
  </p:sldMasterIdLst>
  <p:sldIdLst>
    <p:sldId id="256" r:id="rIdSlide1"/>
    <p:sldId id="257" r:id="rIdSlide2"/>
    <p:sldId id="258" r:id="rIdSlide3"/>
    <p:sldId id="259" r:id="rIdSlide4"/>
    <p:sldId id="260" r:id="rIdSlide5"/>
    <p:sldId id="261" r:id="rIdSlide6"/>
    <p:sldId id="262" r:id="rIdSlide7"/>
    <p:sldId id="263" r:id="rIdSlide8"/>
  </p:sldIdLst>
  <p:sldSz cx="9144000" cy="51435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Master1" Type="http://schemas.openxmlformats.org/officeDocument/2006/relationships/slideMaster" Target="slideMasters/slideMaster1.xml"/>
  <Relationship Id="rIdSlide1" Type="http://schemas.openxmlformats.org/officeDocument/2006/relationships/slide" Target="slides/slide1.xml"/>
  <Relationship Id="rIdSlide2" Type="http://schemas.openxmlformats.org/officeDocument/2006/relationships/slide" Target="slides/slide2.xml"/>
  <Relationship Id="rIdSlide3" Type="http://schemas.openxmlformats.org/officeDocument/2006/relationships/slide" Target="slides/slide3.xml"/>
  <Relationship Id="rIdSlide4" Type="http://schemas.openxmlformats.org/officeDocument/2006/relationships/slide" Target="slides/slide4.xml"/>
  <Relationship Id="rIdSlide5" Type="http://schemas.openxmlformats.org/officeDocument/2006/relationships/slide" Target="slides/slide5.xml"/>
  <Relationship Id="rIdSlide6" Type="http://schemas.openxmlformats.org/officeDocument/2006/relationships/slide" Target="slides/slide6.xml"/>
  <Relationship Id="rIdSlide7" Type="http://schemas.openxmlformats.org/officeDocument/2006/relationships/slide" Target="slides/slide7.xml"/>
  <Relationship Id="rIdSlide8" Type="http://schemas.openxmlformats.org/officeDocument/2006/relationships/slide" Target="slides/slide8.xml"/>
</Relationships>
</file>

<file path=ppt/slideLayouts/_rels/slideLayout1.xml.rels><?xml version="1.0" encoding="UTF-8" standalone="yes"?>
<Relationships xmlns="http://schemas.openxmlformats.org/package/2006/relationships">
  <Relationship Id="rIdMaster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Layout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</p:sldLayoutIdLst>
</p:sldMaster>
</file>

<file path=ppt/slides/_rels/slide1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2400" b="1"/>
              <a:t>Oahu Catamaran &amp; Sportfishing Charters</a:t>
            </a:r>
          </a:p>
          <a:p>
            <a:pPr lvl="0"/>
            <a:r>
              <a:rPr lang="en-US" sz="1200" i="1"/>
              <a:t>2026 Private Charter &amp; Concierge Presentation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85800" y="1524000"/>
            <a:ext cx="7772400" cy="3200400"/>
          </a:xfrm>
        </p:spPr>
        <p:txBody>
          <a:bodyPr/>
          <a:lstStyle/>
          <a:p>
            <a:pPr lvl="0" marL="288000" indent="-288000">
              <a:buFont typeface="Arial"/>
              <a:buChar char="•"/>
            </a:pPr>
            <a:r>
              <a:rPr lang="en-US" sz="1500"/>
              <a:t>Presented by Luca Carollo, Managing Partner</a:t>
            </a:r>
          </a:p>
          <a:p>
            <a:pPr lvl="0" marL="288000" indent="-288000">
              <a:buFont typeface="Arial"/>
              <a:buChar char="•"/>
            </a:pPr>
            <a:r>
              <a:rPr lang="en-US" sz="1500"/>
              <a:t>Kewalo Basin Harbor, Honolulu, Hawaii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2400" b="1"/>
              <a:t>Fleet Overview: Makani &amp; Hoku</a:t>
            </a:r>
          </a:p>
          <a:p>
            <a:pPr lvl="0"/>
            <a:r>
              <a:rPr lang="en-US" sz="1200" i="1"/>
              <a:t>USCG Licensed Captained Vessels out of Kewalo Basin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85800" y="1524000"/>
            <a:ext cx="7772400" cy="3200400"/>
          </a:xfrm>
        </p:spPr>
        <p:txBody>
          <a:bodyPr/>
          <a:lstStyle/>
          <a:p>
            <a:pPr lvl="0" marL="288000" indent="-288000">
              <a:buFont typeface="Arial"/>
              <a:buChar char="•"/>
            </a:pPr>
            <a:r>
              <a:rPr lang="en-US" sz="1500"/>
              <a:t>42ft Luxury Sailing Catamaran 'Makani' (18 passengers) for coastal sails &amp; snorkeling</a:t>
            </a:r>
          </a:p>
          <a:p>
            <a:pPr lvl="0" marL="288000" indent="-288000">
              <a:buFont typeface="Arial"/>
              <a:buChar char="•"/>
            </a:pPr>
            <a:r>
              <a:rPr lang="en-US" sz="1500"/>
              <a:t>34ft Custom Sportfisher 'Hoku' (6 passengers) for offshore big game fishing</a:t>
            </a:r>
          </a:p>
          <a:p>
            <a:pPr lvl="0" marL="288000" indent="-288000">
              <a:buFont typeface="Arial"/>
              <a:buChar char="•"/>
            </a:pPr>
            <a:r>
              <a:rPr lang="en-US" sz="1500"/>
              <a:t>Full marine electronics, sound systems, shaded cockpits, and private heads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2400" b="1"/>
              <a:t>Private Sunset &amp; Turtle Canyon Snorkel Sails</a:t>
            </a:r>
          </a:p>
          <a:p>
            <a:pPr lvl="0"/>
            <a:r>
              <a:rPr lang="en-US" sz="1200" i="1"/>
              <a:t>Makani Catamaran Itinerary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85800" y="1524000"/>
            <a:ext cx="7772400" cy="3200400"/>
          </a:xfrm>
        </p:spPr>
        <p:txBody>
          <a:bodyPr/>
          <a:lstStyle/>
          <a:p>
            <a:pPr lvl="0" marL="288000" indent="-288000">
              <a:buFont typeface="Arial"/>
              <a:buChar char="•"/>
            </a:pPr>
            <a:r>
              <a:rPr lang="en-US" sz="1500"/>
              <a:t>Daily morning &amp; midday turtle canyon snorkeling excursions with sea turtles &amp; rays</a:t>
            </a:r>
          </a:p>
          <a:p>
            <a:pPr lvl="0" marL="288000" indent="-288000">
              <a:buFont typeface="Arial"/>
              <a:buChar char="•"/>
            </a:pPr>
            <a:r>
              <a:rPr lang="en-US" sz="1500"/>
              <a:t>Complimentary reef-safe sunscreen, premium mask/snorkel gear, and floating loungers</a:t>
            </a:r>
          </a:p>
          <a:p>
            <a:pPr lvl="0" marL="288000" indent="-288000">
              <a:buFont typeface="Arial"/>
              <a:buChar char="•"/>
            </a:pPr>
            <a:r>
              <a:rPr lang="en-US" sz="1500"/>
              <a:t>Iconic Waikiki &amp; Diamond Head golden hour private sunset sails</a:t>
            </a:r>
          </a:p>
          <a:p>
            <a:pPr lvl="0" marL="288000" indent="-288000">
              <a:buFont typeface="Arial"/>
              <a:buChar char="•"/>
            </a:pPr>
            <a:r>
              <a:rPr lang="en-US" sz="1500"/>
              <a:t>BYOB friendly with chilled coolers, ice, and optional island-sourced catering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2400" b="1"/>
              <a:t>Deep Sea Offshore Big Game Fishing</a:t>
            </a:r>
          </a:p>
          <a:p>
            <a:pPr lvl="0"/>
            <a:r>
              <a:rPr lang="en-US" sz="1200" i="1"/>
              <a:t>Hoku Sportfisher Itinerary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85800" y="1524000"/>
            <a:ext cx="7772400" cy="3200400"/>
          </a:xfrm>
        </p:spPr>
        <p:txBody>
          <a:bodyPr/>
          <a:lstStyle/>
          <a:p>
            <a:pPr lvl="0" marL="288000" indent="-288000">
              <a:buFont typeface="Arial"/>
              <a:buChar char="•"/>
            </a:pPr>
            <a:r>
              <a:rPr lang="en-US" sz="1500"/>
              <a:t>Targeting Pacific Blue Marlin, Ahi (Yellowfin Tuna), Mahi-Mahi, and Ono (Wahoo)</a:t>
            </a:r>
          </a:p>
          <a:p>
            <a:pPr lvl="0" marL="288000" indent="-288000">
              <a:buFont typeface="Arial"/>
              <a:buChar char="•"/>
            </a:pPr>
            <a:r>
              <a:rPr lang="en-US" sz="1500"/>
              <a:t>Shimano Tiagra 80W &amp; 130 reels, Penn International tackle, green stick gear</a:t>
            </a:r>
          </a:p>
          <a:p>
            <a:pPr lvl="0" marL="288000" indent="-288000">
              <a:buFont typeface="Arial"/>
              <a:buChar char="•"/>
            </a:pPr>
            <a:r>
              <a:rPr lang="en-US" sz="1500"/>
              <a:t>Half-day (4h), 3/4-day (6h), and full-day (8h) private deep sea charters</a:t>
            </a:r>
          </a:p>
          <a:p>
            <a:pPr lvl="0" marL="288000" indent="-288000">
              <a:buFont typeface="Arial"/>
              <a:buChar char="•"/>
            </a:pPr>
            <a:r>
              <a:rPr lang="en-US" sz="1500"/>
              <a:t>Keep your catch: fresh fish cut and bagged for guests at the dock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2400" b="1"/>
              <a:t>Charter Rates &amp; Seasonal Packages</a:t>
            </a:r>
          </a:p>
          <a:p>
            <a:pPr lvl="0"/>
            <a:r>
              <a:rPr lang="en-US" sz="1200" i="1"/>
              <a:t>Transparent Fixed Pricing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85800" y="1524000"/>
            <a:ext cx="7772400" cy="3200400"/>
          </a:xfrm>
        </p:spPr>
        <p:txBody>
          <a:bodyPr/>
          <a:lstStyle/>
          <a:p>
            <a:pPr lvl="0" marL="288000" indent="-288000">
              <a:buFont typeface="Arial"/>
              <a:buChar char="•"/>
            </a:pPr>
            <a:r>
              <a:rPr lang="en-US" sz="1500"/>
              <a:t>Makani Catamaran: $950 Sunset (2.5h) · $1,400 Half-Day (4h) · $2,400 Full-Day (8h)</a:t>
            </a:r>
          </a:p>
          <a:p>
            <a:pPr lvl="0" marL="288000" indent="-288000">
              <a:buFont typeface="Arial"/>
              <a:buChar char="•"/>
            </a:pPr>
            <a:r>
              <a:rPr lang="en-US" sz="1500"/>
              <a:t>Hoku Sportfisher: $750 Sunset · $1,100 Half-Day (4h) · $1,950 Full-Day (8h)</a:t>
            </a:r>
          </a:p>
          <a:p>
            <a:pPr lvl="0" marL="288000" indent="-288000">
              <a:buFont typeface="Arial"/>
              <a:buChar char="•"/>
            </a:pPr>
            <a:r>
              <a:rPr lang="en-US" sz="1500"/>
              <a:t>Captain, first mate, fuel, and marine harbor fees included</a:t>
            </a:r>
          </a:p>
          <a:p>
            <a:pPr lvl="0" marL="288000" indent="-288000">
              <a:buFont typeface="Arial"/>
              <a:buChar char="•"/>
            </a:pPr>
            <a:r>
              <a:rPr lang="en-US" sz="1500"/>
              <a:t>Custom wedding, corporate team-building, and ash scattering charters available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2400" b="1"/>
              <a:t>Guest Safety &amp; Environmental Stewardship</a:t>
            </a:r>
          </a:p>
          <a:p>
            <a:pPr lvl="0"/>
            <a:r>
              <a:rPr lang="en-US" sz="1200" i="1"/>
              <a:t>Coast Guard Inspected &amp; Reef Protected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85800" y="1524000"/>
            <a:ext cx="7772400" cy="3200400"/>
          </a:xfrm>
        </p:spPr>
        <p:txBody>
          <a:bodyPr/>
          <a:lstStyle/>
          <a:p>
            <a:pPr lvl="0" marL="288000" indent="-288000">
              <a:buFont typeface="Arial"/>
              <a:buChar char="•"/>
            </a:pPr>
            <a:r>
              <a:rPr lang="en-US" sz="1500"/>
              <a:t>USCG Master 100-Ton licensed captains with 15+ years Hawaiian waters experience</a:t>
            </a:r>
          </a:p>
          <a:p>
            <a:pPr lvl="0" marL="288000" indent="-288000">
              <a:buFont typeface="Arial"/>
              <a:buChar char="•"/>
            </a:pPr>
            <a:r>
              <a:rPr lang="en-US" sz="1500"/>
              <a:t>Annual marine safety inspections and comprehensive commercial liability insurance</a:t>
            </a:r>
          </a:p>
          <a:p>
            <a:pPr lvl="0" marL="288000" indent="-288000">
              <a:buFont typeface="Arial"/>
              <a:buChar char="•"/>
            </a:pPr>
            <a:r>
              <a:rPr lang="en-US" sz="1500"/>
              <a:t>100% reef-safe sunscreen policy to protect Oahu's nearshore coral ecosystems</a:t>
            </a:r>
          </a:p>
          <a:p>
            <a:pPr lvl="0" marL="288000" indent="-288000">
              <a:buFont typeface="Arial"/>
              <a:buChar char="•"/>
            </a:pPr>
            <a:r>
              <a:rPr lang="en-US" sz="1500"/>
              <a:t>Strict adherence to NOAA whale watching guidelines during humpback season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2400" b="1"/>
              <a:t>Concierge &amp; Hotel Partner Program</a:t>
            </a:r>
          </a:p>
          <a:p>
            <a:pPr lvl="0"/>
            <a:r>
              <a:rPr lang="en-US" sz="1200" i="1"/>
              <a:t>Waikiki Luxury Hotel Concierge Desk Tie-Ins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85800" y="1524000"/>
            <a:ext cx="7772400" cy="3200400"/>
          </a:xfrm>
        </p:spPr>
        <p:txBody>
          <a:bodyPr/>
          <a:lstStyle/>
          <a:p>
            <a:pPr lvl="0" marL="288000" indent="-288000">
              <a:buFont typeface="Arial"/>
              <a:buChar char="•"/>
            </a:pPr>
            <a:r>
              <a:rPr lang="en-US" sz="1500"/>
              <a:t>Direct concierge booking hotline with priority calendar reservation locks</a:t>
            </a:r>
          </a:p>
          <a:p>
            <a:pPr lvl="0" marL="288000" indent="-288000">
              <a:buFont typeface="Arial"/>
              <a:buChar char="•"/>
            </a:pPr>
            <a:r>
              <a:rPr lang="en-US" sz="1500"/>
              <a:t>Transparent 15% concierge commission paid out on the 1st of each month</a:t>
            </a:r>
          </a:p>
          <a:p>
            <a:pPr lvl="0" marL="288000" indent="-288000">
              <a:buFont typeface="Arial"/>
              <a:buChar char="•"/>
            </a:pPr>
            <a:r>
              <a:rPr lang="en-US" sz="1500"/>
              <a:t>Custom co-branded welcome letters and champagne packages for VIP guests</a:t>
            </a:r>
          </a:p>
          <a:p>
            <a:pPr lvl="0" marL="288000" indent="-288000">
              <a:buFont typeface="Arial"/>
              <a:buChar char="•"/>
            </a:pPr>
            <a:r>
              <a:rPr lang="en-US" sz="1500"/>
              <a:t>Automated booking confirmation and digital waiver sent to guest mobile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2400" b="1"/>
              <a:t>Booking &amp; Reservations Hotline</a:t>
            </a:r>
          </a:p>
          <a:p>
            <a:pPr lvl="0"/>
            <a:r>
              <a:rPr lang="en-US" sz="1200" i="1"/>
              <a:t>Kewalo Basin Harbor, Slip K-14 &amp; K-15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85800" y="1524000"/>
            <a:ext cx="7772400" cy="3200400"/>
          </a:xfrm>
        </p:spPr>
        <p:txBody>
          <a:bodyPr/>
          <a:lstStyle/>
          <a:p>
            <a:pPr lvl="0" marL="288000" indent="-288000">
              <a:buFont typeface="Arial"/>
              <a:buChar char="•"/>
            </a:pPr>
            <a:r>
              <a:rPr lang="en-US" sz="1500"/>
              <a:t>Online: www.oahucharterco.com</a:t>
            </a:r>
          </a:p>
          <a:p>
            <a:pPr lvl="0" marL="288000" indent="-288000">
              <a:buFont typeface="Arial"/>
              <a:buChar char="•"/>
            </a:pPr>
            <a:r>
              <a:rPr lang="en-US" sz="1500"/>
              <a:t>Direct Captain Dispatch: (808) 555-0142</a:t>
            </a:r>
          </a:p>
          <a:p>
            <a:pPr lvl="0" marL="288000" indent="-288000">
              <a:buFont typeface="Arial"/>
              <a:buChar char="•"/>
            </a:pPr>
            <a:r>
              <a:rPr lang="en-US" sz="1500"/>
              <a:t>Email: charters@oahucharterco.com</a:t>
            </a:r>
          </a:p>
          <a:p>
            <a:pPr lvl="0" marL="288000" indent="-288000">
              <a:buFont typeface="Arial"/>
              <a:buChar char="•"/>
            </a:pPr>
            <a:r>
              <a:rPr lang="en-US" sz="1500"/>
              <a:t>Dock Location: 1025 Ala Moana Blvd, Honolulu, HI 96814</a:t>
            </a:r>
          </a:p>
        </p:txBody>
      </p:sp>
    </p:spTree>
  </p:cSld>
</p:sld>
</file>